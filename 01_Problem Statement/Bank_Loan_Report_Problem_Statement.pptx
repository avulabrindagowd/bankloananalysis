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09f9db6-d6bf-f073-8596-ae631e6ab896}">
          <p14:sldIdLst>
            <p14:sldId id="256"/>
            <p14:sldId id="257"/>
            <p14:sldId id="258"/>
          </p14:sldIdLst>
        </p14:section>
        <p14:section name="Dashboard 1: Summary" id="{58256f98-e65e-9f07-da69-616268372602}">
          <p14:sldIdLst>
            <p14:sldId id="259"/>
            <p14:sldId id="260"/>
            <p14:sldId id="261"/>
          </p14:sldIdLst>
        </p14:section>
        <p14:section name="Dashboard 2: Overview" id="{eec0c6b7-c761-b873-0e5a-8c39c217b7fa}">
          <p14:sldIdLst>
            <p14:sldId id="262"/>
          </p14:sldIdLst>
        </p14:section>
        <p14:section name="Dashboard 3: Details" id="{42c78bc9-1ab0-3e1f-ae3b-1142c21b1928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39496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Analysis  |  Problem Statement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ANALYSIS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Summary, Overview and Details dashboards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6309360" y="123444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Hero icon" descr="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74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this report</a:t>
            </a:r>
            <a:endParaRPr lang="en-US" sz="3200" dirty="0"/>
          </a:p>
        </p:txBody>
      </p:sp>
      <p:sp>
        <p:nvSpPr>
          <p:cNvPr id="3" name="Purpose card 1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Monitor and assess icon bg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onitor and assess icon" descr="Monitor and ass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65760" cy="365760"/>
          </a:xfrm>
          <a:prstGeom prst="rect">
            <a:avLst/>
          </a:prstGeom>
        </p:spPr>
      </p:pic>
      <p:sp>
        <p:nvSpPr>
          <p:cNvPr id="6" name="Purpose title 1"/>
          <p:cNvSpPr txBox="1"/>
          <p:nvPr/>
        </p:nvSpPr>
        <p:spPr>
          <a:xfrm>
            <a:off x="73152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and assess</a:t>
            </a:r>
            <a:endParaRPr lang="en-US" sz="2000" dirty="0"/>
          </a:p>
        </p:txBody>
      </p:sp>
      <p:sp>
        <p:nvSpPr>
          <p:cNvPr id="7" name="Purpose text 1"/>
          <p:cNvSpPr txBox="1"/>
          <p:nvPr/>
        </p:nvSpPr>
        <p:spPr>
          <a:xfrm>
            <a:off x="73152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bank’s lending activities and performance, and how key loan metrics change over time.</a:t>
            </a:r>
            <a:endParaRPr lang="en-US" sz="1400" dirty="0"/>
          </a:p>
        </p:txBody>
      </p:sp>
      <p:sp>
        <p:nvSpPr>
          <p:cNvPr id="8" name="Purpose card 2"/>
          <p:cNvSpPr/>
          <p:nvPr/>
        </p:nvSpPr>
        <p:spPr>
          <a:xfrm>
            <a:off x="3246120" y="1371600"/>
            <a:ext cx="265176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rack portfolio health icon bg"/>
          <p:cNvSpPr/>
          <p:nvPr/>
        </p:nvSpPr>
        <p:spPr>
          <a:xfrm>
            <a:off x="352044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rack portfolio health icon" descr="Track portfolio heal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28800"/>
            <a:ext cx="365760" cy="365760"/>
          </a:xfrm>
          <a:prstGeom prst="rect">
            <a:avLst/>
          </a:prstGeom>
        </p:spPr>
      </p:pic>
      <p:sp>
        <p:nvSpPr>
          <p:cNvPr id="11" name="Purpose title 2"/>
          <p:cNvSpPr txBox="1"/>
          <p:nvPr/>
        </p:nvSpPr>
        <p:spPr>
          <a:xfrm>
            <a:off x="352044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portfolio health</a:t>
            </a:r>
            <a:endParaRPr lang="en-US" sz="2000" dirty="0"/>
          </a:p>
        </p:txBody>
      </p:sp>
      <p:sp>
        <p:nvSpPr>
          <p:cNvPr id="12" name="Purpose text 2"/>
          <p:cNvSpPr txBox="1"/>
          <p:nvPr/>
        </p:nvSpPr>
        <p:spPr>
          <a:xfrm>
            <a:off x="352044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close eye on the quality of the loan portfolio through clear, comparable KPIs.</a:t>
            </a:r>
            <a:endParaRPr lang="en-US" sz="1400" dirty="0"/>
          </a:p>
        </p:txBody>
      </p:sp>
      <p:sp>
        <p:nvSpPr>
          <p:cNvPr id="13" name="Purpose card 3"/>
          <p:cNvSpPr/>
          <p:nvPr/>
        </p:nvSpPr>
        <p:spPr>
          <a:xfrm>
            <a:off x="6035040" y="1371600"/>
            <a:ext cx="265176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Identify trends icon bg"/>
          <p:cNvSpPr/>
          <p:nvPr/>
        </p:nvSpPr>
        <p:spPr>
          <a:xfrm>
            <a:off x="63093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dentify trends icon" descr="Identify tr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365760" cy="365760"/>
          </a:xfrm>
          <a:prstGeom prst="rect">
            <a:avLst/>
          </a:prstGeom>
        </p:spPr>
      </p:pic>
      <p:sp>
        <p:nvSpPr>
          <p:cNvPr id="16" name="Purpose title 3"/>
          <p:cNvSpPr txBox="1"/>
          <p:nvPr/>
        </p:nvSpPr>
        <p:spPr>
          <a:xfrm>
            <a:off x="630936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trends</a:t>
            </a:r>
            <a:endParaRPr lang="en-US" sz="2000" dirty="0"/>
          </a:p>
        </p:txBody>
      </p:sp>
      <p:sp>
        <p:nvSpPr>
          <p:cNvPr id="17" name="Purpose text 3"/>
          <p:cNvSpPr txBox="1"/>
          <p:nvPr/>
        </p:nvSpPr>
        <p:spPr>
          <a:xfrm>
            <a:off x="630936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patterns that inform lending strategies and support data-driven decisions.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dashboards, one story</a:t>
            </a:r>
            <a:endParaRPr lang="en-US" sz="3200" dirty="0"/>
          </a:p>
        </p:txBody>
      </p:sp>
      <p:sp>
        <p:nvSpPr>
          <p:cNvPr id="3" name="Dashboard row 1"/>
          <p:cNvSpPr/>
          <p:nvPr/>
        </p:nvSpPr>
        <p:spPr>
          <a:xfrm>
            <a:off x="457200" y="1325880"/>
            <a:ext cx="822960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Number badge 1"/>
          <p:cNvSpPr/>
          <p:nvPr/>
        </p:nvSpPr>
        <p:spPr>
          <a:xfrm>
            <a:off x="685800" y="15087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Number 1"/>
          <p:cNvSpPr txBox="1"/>
          <p:nvPr/>
        </p:nvSpPr>
        <p:spPr>
          <a:xfrm>
            <a:off x="68580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Dashboard name 1"/>
          <p:cNvSpPr txBox="1"/>
          <p:nvPr/>
        </p:nvSpPr>
        <p:spPr>
          <a:xfrm>
            <a:off x="1554480" y="1417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400" dirty="0"/>
          </a:p>
        </p:txBody>
      </p:sp>
      <p:sp>
        <p:nvSpPr>
          <p:cNvPr id="7" name="Dashboard desc 1"/>
          <p:cNvSpPr txBox="1"/>
          <p:nvPr/>
        </p:nvSpPr>
        <p:spPr>
          <a:xfrm>
            <a:off x="3657600" y="1417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KPIs, good vs bad loans and a loan status grid view</a:t>
            </a:r>
            <a:endParaRPr lang="en-US" sz="1400" dirty="0"/>
          </a:p>
        </p:txBody>
      </p:sp>
      <p:sp>
        <p:nvSpPr>
          <p:cNvPr id="8" name="Dashboard row 2"/>
          <p:cNvSpPr/>
          <p:nvPr/>
        </p:nvSpPr>
        <p:spPr>
          <a:xfrm>
            <a:off x="457200" y="2423160"/>
            <a:ext cx="822960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Number badge 2"/>
          <p:cNvSpPr/>
          <p:nvPr/>
        </p:nvSpPr>
        <p:spPr>
          <a:xfrm>
            <a:off x="685800" y="26060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68580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Dashboard name 2"/>
          <p:cNvSpPr txBox="1"/>
          <p:nvPr/>
        </p:nvSpPr>
        <p:spPr>
          <a:xfrm>
            <a:off x="1554480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400" dirty="0"/>
          </a:p>
        </p:txBody>
      </p:sp>
      <p:sp>
        <p:nvSpPr>
          <p:cNvPr id="12" name="Dashboard desc 2"/>
          <p:cNvSpPr txBox="1"/>
          <p:nvPr/>
        </p:nvSpPr>
        <p:spPr>
          <a:xfrm>
            <a:off x="365760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charts showing trends, regions, terms, borrowers and purposes</a:t>
            </a:r>
            <a:endParaRPr lang="en-US" sz="1400" dirty="0"/>
          </a:p>
        </p:txBody>
      </p:sp>
      <p:sp>
        <p:nvSpPr>
          <p:cNvPr id="13" name="Dashboard row 3"/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Number badge 3"/>
          <p:cNvSpPr/>
          <p:nvPr/>
        </p:nvSpPr>
        <p:spPr>
          <a:xfrm>
            <a:off x="685800" y="37033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Number 3"/>
          <p:cNvSpPr txBox="1"/>
          <p:nvPr/>
        </p:nvSpPr>
        <p:spPr>
          <a:xfrm>
            <a:off x="68580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Dashboard name 3"/>
          <p:cNvSpPr txBox="1"/>
          <p:nvPr/>
        </p:nvSpPr>
        <p:spPr>
          <a:xfrm>
            <a:off x="1554480" y="3611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</a:t>
            </a:r>
            <a:endParaRPr lang="en-US" sz="2400" dirty="0"/>
          </a:p>
        </p:txBody>
      </p:sp>
      <p:sp>
        <p:nvSpPr>
          <p:cNvPr id="17" name="Dashboard desc 3"/>
          <p:cNvSpPr txBox="1"/>
          <p:nvPr/>
        </p:nvSpPr>
        <p:spPr>
          <a:xfrm>
            <a:off x="3657600" y="3611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consolidated, user-friendly view of all essential loan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the five core KPIs</a:t>
            </a:r>
            <a:endParaRPr lang="en-US" sz="3200" dirty="0"/>
          </a:p>
        </p:txBody>
      </p:sp>
      <p:sp>
        <p:nvSpPr>
          <p:cNvPr id="3" name="KPI card 1"/>
          <p:cNvSpPr/>
          <p:nvPr/>
        </p:nvSpPr>
        <p:spPr>
          <a:xfrm>
            <a:off x="457200" y="1280160"/>
            <a:ext cx="1499616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otal Loan Applications icon bg"/>
          <p:cNvSpPr/>
          <p:nvPr/>
        </p:nvSpPr>
        <p:spPr>
          <a:xfrm>
            <a:off x="59436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otal Loan Applications icon" descr="Total Loan Appl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274320" cy="274320"/>
          </a:xfrm>
          <a:prstGeom prst="rect">
            <a:avLst/>
          </a:prstGeom>
        </p:spPr>
      </p:pic>
      <p:sp>
        <p:nvSpPr>
          <p:cNvPr id="6" name="KPI name 1"/>
          <p:cNvSpPr txBox="1"/>
          <p:nvPr/>
        </p:nvSpPr>
        <p:spPr>
          <a:xfrm>
            <a:off x="594360" y="21031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Applications</a:t>
            </a:r>
            <a:endParaRPr lang="en-US" sz="1400" dirty="0"/>
          </a:p>
        </p:txBody>
      </p:sp>
      <p:sp>
        <p:nvSpPr>
          <p:cNvPr id="7" name="KPI desc 1"/>
          <p:cNvSpPr txBox="1"/>
          <p:nvPr/>
        </p:nvSpPr>
        <p:spPr>
          <a:xfrm>
            <a:off x="594360" y="27889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received in the period</a:t>
            </a:r>
            <a:endParaRPr lang="en-US" sz="1100" dirty="0"/>
          </a:p>
        </p:txBody>
      </p:sp>
      <p:sp>
        <p:nvSpPr>
          <p:cNvPr id="8" name="KPI card 2"/>
          <p:cNvSpPr/>
          <p:nvPr/>
        </p:nvSpPr>
        <p:spPr>
          <a:xfrm>
            <a:off x="2139696" y="1280160"/>
            <a:ext cx="1499616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otal Funded Amount icon bg"/>
          <p:cNvSpPr/>
          <p:nvPr/>
        </p:nvSpPr>
        <p:spPr>
          <a:xfrm>
            <a:off x="2276856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otal Funded Amount icon" descr="Total Funded Amou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16" y="1600200"/>
            <a:ext cx="274320" cy="274320"/>
          </a:xfrm>
          <a:prstGeom prst="rect">
            <a:avLst/>
          </a:prstGeom>
        </p:spPr>
      </p:pic>
      <p:sp>
        <p:nvSpPr>
          <p:cNvPr id="11" name="KPI name 2"/>
          <p:cNvSpPr txBox="1"/>
          <p:nvPr/>
        </p:nvSpPr>
        <p:spPr>
          <a:xfrm>
            <a:off x="2276856" y="21031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 Amount</a:t>
            </a:r>
            <a:endParaRPr lang="en-US" sz="1400" dirty="0"/>
          </a:p>
        </p:txBody>
      </p:sp>
      <p:sp>
        <p:nvSpPr>
          <p:cNvPr id="12" name="KPI desc 2"/>
          <p:cNvSpPr txBox="1"/>
          <p:nvPr/>
        </p:nvSpPr>
        <p:spPr>
          <a:xfrm>
            <a:off x="2276856" y="27889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disbursed as loans</a:t>
            </a:r>
            <a:endParaRPr lang="en-US" sz="1100" dirty="0"/>
          </a:p>
        </p:txBody>
      </p:sp>
      <p:sp>
        <p:nvSpPr>
          <p:cNvPr id="13" name="KPI card 3"/>
          <p:cNvSpPr/>
          <p:nvPr/>
        </p:nvSpPr>
        <p:spPr>
          <a:xfrm>
            <a:off x="3822192" y="1280160"/>
            <a:ext cx="1499616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otal Amount Received icon bg"/>
          <p:cNvSpPr/>
          <p:nvPr/>
        </p:nvSpPr>
        <p:spPr>
          <a:xfrm>
            <a:off x="3959352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Total Amount Received icon" descr="Total Amount Receiv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600200"/>
            <a:ext cx="274320" cy="274320"/>
          </a:xfrm>
          <a:prstGeom prst="rect">
            <a:avLst/>
          </a:prstGeom>
        </p:spPr>
      </p:pic>
      <p:sp>
        <p:nvSpPr>
          <p:cNvPr id="16" name="KPI name 3"/>
          <p:cNvSpPr txBox="1"/>
          <p:nvPr/>
        </p:nvSpPr>
        <p:spPr>
          <a:xfrm>
            <a:off x="3959352" y="21031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Received</a:t>
            </a:r>
            <a:endParaRPr lang="en-US" sz="1400" dirty="0"/>
          </a:p>
        </p:txBody>
      </p:sp>
      <p:sp>
        <p:nvSpPr>
          <p:cNvPr id="17" name="KPI desc 3"/>
          <p:cNvSpPr txBox="1"/>
          <p:nvPr/>
        </p:nvSpPr>
        <p:spPr>
          <a:xfrm>
            <a:off x="3959352" y="27889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Repayments collected from borrowers</a:t>
            </a:r>
            <a:endParaRPr lang="en-US" sz="1100" dirty="0"/>
          </a:p>
        </p:txBody>
      </p:sp>
      <p:sp>
        <p:nvSpPr>
          <p:cNvPr id="18" name="KPI card 4"/>
          <p:cNvSpPr/>
          <p:nvPr/>
        </p:nvSpPr>
        <p:spPr>
          <a:xfrm>
            <a:off x="5504688" y="1280160"/>
            <a:ext cx="1499616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Average Interest Rate icon bg"/>
          <p:cNvSpPr/>
          <p:nvPr/>
        </p:nvSpPr>
        <p:spPr>
          <a:xfrm>
            <a:off x="5641848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Average Interest Rate icon" descr="Average Interest R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600200"/>
            <a:ext cx="274320" cy="274320"/>
          </a:xfrm>
          <a:prstGeom prst="rect">
            <a:avLst/>
          </a:prstGeom>
        </p:spPr>
      </p:pic>
      <p:sp>
        <p:nvSpPr>
          <p:cNvPr id="21" name="KPI name 4"/>
          <p:cNvSpPr txBox="1"/>
          <p:nvPr/>
        </p:nvSpPr>
        <p:spPr>
          <a:xfrm>
            <a:off x="5641848" y="21031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Interest Rate</a:t>
            </a:r>
            <a:endParaRPr lang="en-US" sz="1400" dirty="0"/>
          </a:p>
        </p:txBody>
      </p:sp>
      <p:sp>
        <p:nvSpPr>
          <p:cNvPr id="22" name="KPI desc 4"/>
          <p:cNvSpPr txBox="1"/>
          <p:nvPr/>
        </p:nvSpPr>
        <p:spPr>
          <a:xfrm>
            <a:off x="5641848" y="27889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cost of the lending portfolio</a:t>
            </a:r>
            <a:endParaRPr lang="en-US" sz="1100" dirty="0"/>
          </a:p>
        </p:txBody>
      </p:sp>
      <p:sp>
        <p:nvSpPr>
          <p:cNvPr id="23" name="KPI card 5"/>
          <p:cNvSpPr/>
          <p:nvPr/>
        </p:nvSpPr>
        <p:spPr>
          <a:xfrm>
            <a:off x="7187184" y="1280160"/>
            <a:ext cx="1499616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verage DTI icon bg"/>
          <p:cNvSpPr/>
          <p:nvPr/>
        </p:nvSpPr>
        <p:spPr>
          <a:xfrm>
            <a:off x="7324344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Average DTI icon" descr="Average DT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600200"/>
            <a:ext cx="274320" cy="274320"/>
          </a:xfrm>
          <a:prstGeom prst="rect">
            <a:avLst/>
          </a:prstGeom>
        </p:spPr>
      </p:pic>
      <p:sp>
        <p:nvSpPr>
          <p:cNvPr id="26" name="KPI name 5"/>
          <p:cNvSpPr txBox="1"/>
          <p:nvPr/>
        </p:nvSpPr>
        <p:spPr>
          <a:xfrm>
            <a:off x="7324344" y="21031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DTI</a:t>
            </a:r>
            <a:endParaRPr lang="en-US" sz="1400" dirty="0"/>
          </a:p>
        </p:txBody>
      </p:sp>
      <p:sp>
        <p:nvSpPr>
          <p:cNvPr id="27" name="KPI desc 5"/>
          <p:cNvSpPr txBox="1"/>
          <p:nvPr/>
        </p:nvSpPr>
        <p:spPr>
          <a:xfrm>
            <a:off x="7324344" y="27889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Debt-to-income: borrower financial health</a:t>
            </a:r>
            <a:endParaRPr lang="en-US" sz="1100" dirty="0"/>
          </a:p>
        </p:txBody>
      </p:sp>
      <p:sp>
        <p:nvSpPr>
          <p:cNvPr id="28" name="Tracked label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KPI is tracked three ways</a:t>
            </a:r>
            <a:endParaRPr lang="en-US" sz="1400" dirty="0"/>
          </a:p>
        </p:txBody>
      </p:sp>
      <p:sp>
        <p:nvSpPr>
          <p:cNvPr id="29" name="Chip 1"/>
          <p:cNvSpPr/>
          <p:nvPr/>
        </p:nvSpPr>
        <p:spPr>
          <a:xfrm>
            <a:off x="457200" y="411480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0" name="Chip text 1"/>
          <p:cNvSpPr txBox="1"/>
          <p:nvPr/>
        </p:nvSpPr>
        <p:spPr>
          <a:xfrm>
            <a:off x="45720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 the period</a:t>
            </a:r>
            <a:endParaRPr lang="en-US" sz="1400" dirty="0"/>
          </a:p>
        </p:txBody>
      </p:sp>
      <p:sp>
        <p:nvSpPr>
          <p:cNvPr id="31" name="Chip 2"/>
          <p:cNvSpPr/>
          <p:nvPr/>
        </p:nvSpPr>
        <p:spPr>
          <a:xfrm>
            <a:off x="3017520" y="411480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2" name="Chip text 2"/>
          <p:cNvSpPr txBox="1"/>
          <p:nvPr/>
        </p:nvSpPr>
        <p:spPr>
          <a:xfrm>
            <a:off x="301752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Month-to-Date (MTD)</a:t>
            </a:r>
            <a:endParaRPr lang="en-US" sz="1400" dirty="0"/>
          </a:p>
        </p:txBody>
      </p:sp>
      <p:sp>
        <p:nvSpPr>
          <p:cNvPr id="33" name="Chip 3"/>
          <p:cNvSpPr/>
          <p:nvPr/>
        </p:nvSpPr>
        <p:spPr>
          <a:xfrm>
            <a:off x="5577840" y="411480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4" name="Chip text 3"/>
          <p:cNvSpPr txBox="1"/>
          <p:nvPr/>
        </p:nvSpPr>
        <p:spPr>
          <a:xfrm>
            <a:off x="557784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(MoM) change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loans vs bad loans</a:t>
            </a:r>
            <a:endParaRPr lang="en-US" sz="3200" dirty="0"/>
          </a:p>
        </p:txBody>
      </p:sp>
      <p:sp>
        <p:nvSpPr>
          <p:cNvPr id="3" name="Good Loans panel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Good Loans icon bg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Good Loans icon" descr="Good Loa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Good Loans title"/>
          <p:cNvSpPr txBox="1"/>
          <p:nvPr/>
        </p:nvSpPr>
        <p:spPr>
          <a:xfrm>
            <a:off x="15544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Loans</a:t>
            </a:r>
            <a:endParaRPr lang="en-US" sz="2400" dirty="0"/>
          </a:p>
        </p:txBody>
      </p:sp>
      <p:sp>
        <p:nvSpPr>
          <p:cNvPr id="7" name="Good Loans status"/>
          <p:cNvSpPr txBox="1"/>
          <p:nvPr/>
        </p:nvSpPr>
        <p:spPr>
          <a:xfrm>
            <a:off x="155448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status: Fully Paid, Current</a:t>
            </a:r>
            <a:endParaRPr lang="en-US" sz="1400" dirty="0"/>
          </a:p>
        </p:txBody>
      </p:sp>
      <p:sp>
        <p:nvSpPr>
          <p:cNvPr id="8" name="Good Loans KPI list"/>
          <p:cNvSpPr txBox="1"/>
          <p:nvPr/>
        </p:nvSpPr>
        <p:spPr>
          <a:xfrm>
            <a:off x="822960" y="2514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percentage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applications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received amount</a:t>
            </a:r>
            <a:endParaRPr lang="en-US" sz="1600" dirty="0"/>
          </a:p>
        </p:txBody>
      </p:sp>
      <p:sp>
        <p:nvSpPr>
          <p:cNvPr id="9" name="Bad Loans panel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Bad Loans icon bg"/>
          <p:cNvSpPr/>
          <p:nvPr/>
        </p:nvSpPr>
        <p:spPr>
          <a:xfrm>
            <a:off x="4937760" y="15087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Bad Loans icon" descr="Bad Loa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668780"/>
            <a:ext cx="320040" cy="320040"/>
          </a:xfrm>
          <a:prstGeom prst="rect">
            <a:avLst/>
          </a:prstGeom>
        </p:spPr>
      </p:pic>
      <p:sp>
        <p:nvSpPr>
          <p:cNvPr id="12" name="Bad Loans title"/>
          <p:cNvSpPr txBox="1"/>
          <p:nvPr/>
        </p:nvSpPr>
        <p:spPr>
          <a:xfrm>
            <a:off x="57607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Loans</a:t>
            </a:r>
            <a:endParaRPr lang="en-US" sz="2400" dirty="0"/>
          </a:p>
        </p:txBody>
      </p:sp>
      <p:sp>
        <p:nvSpPr>
          <p:cNvPr id="13" name="Bad Loans status"/>
          <p:cNvSpPr txBox="1"/>
          <p:nvPr/>
        </p:nvSpPr>
        <p:spPr>
          <a:xfrm>
            <a:off x="57607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status: Charged Off</a:t>
            </a:r>
            <a:endParaRPr lang="en-US" sz="1400" dirty="0"/>
          </a:p>
        </p:txBody>
      </p:sp>
      <p:sp>
        <p:nvSpPr>
          <p:cNvPr id="14" name="Bad Loans KPI list"/>
          <p:cNvSpPr txBox="1"/>
          <p:nvPr/>
        </p:nvSpPr>
        <p:spPr>
          <a:xfrm>
            <a:off x="5029200" y="2514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percentage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applications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received amount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status grid view</a:t>
            </a:r>
            <a:endParaRPr lang="en-US" sz="3200" dirty="0"/>
          </a:p>
        </p:txBody>
      </p:sp>
      <p:sp>
        <p:nvSpPr>
          <p:cNvPr id="3" name="Grid intro panel"/>
          <p:cNvSpPr/>
          <p:nvPr/>
        </p:nvSpPr>
        <p:spPr>
          <a:xfrm>
            <a:off x="457200" y="1280160"/>
            <a:ext cx="3291840" cy="32004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4" name="Grid icon" descr="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640080" cy="640080"/>
          </a:xfrm>
          <a:prstGeom prst="rect">
            <a:avLst/>
          </a:prstGeom>
        </p:spPr>
      </p:pic>
      <p:sp>
        <p:nvSpPr>
          <p:cNvPr id="5" name="Grid heading"/>
          <p:cNvSpPr txBox="1"/>
          <p:nvPr/>
        </p:nvSpPr>
        <p:spPr>
          <a:xfrm>
            <a:off x="777240" y="2377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grid, every loan status</a:t>
            </a:r>
            <a:endParaRPr lang="en-US" sz="2200" dirty="0"/>
          </a:p>
        </p:txBody>
      </p:sp>
      <p:sp>
        <p:nvSpPr>
          <p:cNvPr id="6" name="Grid text"/>
          <p:cNvSpPr txBox="1"/>
          <p:nvPr/>
        </p:nvSpPr>
        <p:spPr>
          <a:xfrm>
            <a:off x="777240" y="3200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view that compares loan performance and portfolio health across each status.</a:t>
            </a:r>
            <a:endParaRPr lang="en-US" sz="1400" dirty="0"/>
          </a:p>
        </p:txBody>
      </p:sp>
      <p:sp>
        <p:nvSpPr>
          <p:cNvPr id="7" name="Metric badge 1"/>
          <p:cNvSpPr/>
          <p:nvPr/>
        </p:nvSpPr>
        <p:spPr>
          <a:xfrm>
            <a:off x="4114800" y="13167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Metric num 1"/>
          <p:cNvSpPr txBox="1"/>
          <p:nvPr/>
        </p:nvSpPr>
        <p:spPr>
          <a:xfrm>
            <a:off x="411480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Metric 1"/>
          <p:cNvSpPr txBox="1"/>
          <p:nvPr/>
        </p:nvSpPr>
        <p:spPr>
          <a:xfrm>
            <a:off x="4617720" y="128016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Applications</a:t>
            </a:r>
            <a:endParaRPr lang="en-US" sz="1600" dirty="0"/>
          </a:p>
        </p:txBody>
      </p:sp>
      <p:sp>
        <p:nvSpPr>
          <p:cNvPr id="10" name="Metric badge 2"/>
          <p:cNvSpPr/>
          <p:nvPr/>
        </p:nvSpPr>
        <p:spPr>
          <a:xfrm>
            <a:off x="4114800" y="17739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Metric num 2"/>
          <p:cNvSpPr txBox="1"/>
          <p:nvPr/>
        </p:nvSpPr>
        <p:spPr>
          <a:xfrm>
            <a:off x="4114800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Metric 2"/>
          <p:cNvSpPr txBox="1"/>
          <p:nvPr/>
        </p:nvSpPr>
        <p:spPr>
          <a:xfrm>
            <a:off x="4617720" y="173736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 Amount</a:t>
            </a:r>
            <a:endParaRPr lang="en-US" sz="1600" dirty="0"/>
          </a:p>
        </p:txBody>
      </p:sp>
      <p:sp>
        <p:nvSpPr>
          <p:cNvPr id="13" name="Metric badge 3"/>
          <p:cNvSpPr/>
          <p:nvPr/>
        </p:nvSpPr>
        <p:spPr>
          <a:xfrm>
            <a:off x="4114800" y="22311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Metric num 3"/>
          <p:cNvSpPr txBox="1"/>
          <p:nvPr/>
        </p:nvSpPr>
        <p:spPr>
          <a:xfrm>
            <a:off x="4114800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Metric 3"/>
          <p:cNvSpPr txBox="1"/>
          <p:nvPr/>
        </p:nvSpPr>
        <p:spPr>
          <a:xfrm>
            <a:off x="4617720" y="219456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Received</a:t>
            </a:r>
            <a:endParaRPr lang="en-US" sz="1600" dirty="0"/>
          </a:p>
        </p:txBody>
      </p:sp>
      <p:sp>
        <p:nvSpPr>
          <p:cNvPr id="16" name="Metric badge 4"/>
          <p:cNvSpPr/>
          <p:nvPr/>
        </p:nvSpPr>
        <p:spPr>
          <a:xfrm>
            <a:off x="4114800" y="26883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Metric num 4"/>
          <p:cNvSpPr txBox="1"/>
          <p:nvPr/>
        </p:nvSpPr>
        <p:spPr>
          <a:xfrm>
            <a:off x="411480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Metric 4"/>
          <p:cNvSpPr txBox="1"/>
          <p:nvPr/>
        </p:nvSpPr>
        <p:spPr>
          <a:xfrm>
            <a:off x="4617720" y="265176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Funded Amount</a:t>
            </a:r>
            <a:endParaRPr lang="en-US" sz="1600" dirty="0"/>
          </a:p>
        </p:txBody>
      </p:sp>
      <p:sp>
        <p:nvSpPr>
          <p:cNvPr id="19" name="Metric badge 5"/>
          <p:cNvSpPr/>
          <p:nvPr/>
        </p:nvSpPr>
        <p:spPr>
          <a:xfrm>
            <a:off x="4114800" y="31455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Metric num 5"/>
          <p:cNvSpPr txBox="1"/>
          <p:nvPr/>
        </p:nvSpPr>
        <p:spPr>
          <a:xfrm>
            <a:off x="411480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Metric 5"/>
          <p:cNvSpPr txBox="1"/>
          <p:nvPr/>
        </p:nvSpPr>
        <p:spPr>
          <a:xfrm>
            <a:off x="4617720" y="310896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Amount Received</a:t>
            </a:r>
            <a:endParaRPr lang="en-US" sz="1600" dirty="0"/>
          </a:p>
        </p:txBody>
      </p:sp>
      <p:sp>
        <p:nvSpPr>
          <p:cNvPr id="22" name="Metric badge 6"/>
          <p:cNvSpPr/>
          <p:nvPr/>
        </p:nvSpPr>
        <p:spPr>
          <a:xfrm>
            <a:off x="4114800" y="36027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Metric num 6"/>
          <p:cNvSpPr txBox="1"/>
          <p:nvPr/>
        </p:nvSpPr>
        <p:spPr>
          <a:xfrm>
            <a:off x="411480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Metric 6"/>
          <p:cNvSpPr txBox="1"/>
          <p:nvPr/>
        </p:nvSpPr>
        <p:spPr>
          <a:xfrm>
            <a:off x="4617720" y="356616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Interest Rate</a:t>
            </a:r>
            <a:endParaRPr lang="en-US" sz="1600" dirty="0"/>
          </a:p>
        </p:txBody>
      </p:sp>
      <p:sp>
        <p:nvSpPr>
          <p:cNvPr id="25" name="Metric badge 7"/>
          <p:cNvSpPr/>
          <p:nvPr/>
        </p:nvSpPr>
        <p:spPr>
          <a:xfrm>
            <a:off x="4114800" y="40599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Metric num 7"/>
          <p:cNvSpPr txBox="1"/>
          <p:nvPr/>
        </p:nvSpPr>
        <p:spPr>
          <a:xfrm>
            <a:off x="4114800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Metric 7"/>
          <p:cNvSpPr txBox="1"/>
          <p:nvPr/>
        </p:nvSpPr>
        <p:spPr>
          <a:xfrm>
            <a:off x="4617720" y="402336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Debt-to-Income (DTI)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Overview: six charts</a:t>
            </a:r>
            <a:endParaRPr lang="en-US" sz="3200" dirty="0"/>
          </a:p>
        </p:txBody>
      </p:sp>
      <p:sp>
        <p:nvSpPr>
          <p:cNvPr id="3" name="Metrics note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shows Total Loan Applications, Total Funded Amount and Total Amount Received</a:t>
            </a:r>
            <a:endParaRPr lang="en-US" sz="1400" dirty="0"/>
          </a:p>
        </p:txBody>
      </p:sp>
      <p:sp>
        <p:nvSpPr>
          <p:cNvPr id="4" name="Chart card 1"/>
          <p:cNvSpPr/>
          <p:nvPr/>
        </p:nvSpPr>
        <p:spPr>
          <a:xfrm>
            <a:off x="457200" y="1463040"/>
            <a:ext cx="2651760" cy="1517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Monthly Trends icon bg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onthly Trends icon" descr="Monthly Tre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14500"/>
            <a:ext cx="228600" cy="228600"/>
          </a:xfrm>
          <a:prstGeom prst="rect">
            <a:avLst/>
          </a:prstGeom>
        </p:spPr>
      </p:pic>
      <p:sp>
        <p:nvSpPr>
          <p:cNvPr id="7" name="Chart name 1"/>
          <p:cNvSpPr txBox="1"/>
          <p:nvPr/>
        </p:nvSpPr>
        <p:spPr>
          <a:xfrm>
            <a:off x="118872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1600" dirty="0"/>
          </a:p>
        </p:txBody>
      </p:sp>
      <p:sp>
        <p:nvSpPr>
          <p:cNvPr id="8" name="Chart type 1"/>
          <p:cNvSpPr txBox="1"/>
          <p:nvPr/>
        </p:nvSpPr>
        <p:spPr>
          <a:xfrm>
            <a:off x="594360" y="2157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by issue month</a:t>
            </a:r>
            <a:endParaRPr lang="en-US" sz="1200" dirty="0"/>
          </a:p>
        </p:txBody>
      </p:sp>
      <p:sp>
        <p:nvSpPr>
          <p:cNvPr id="9" name="Chart objective 1"/>
          <p:cNvSpPr txBox="1"/>
          <p:nvPr/>
        </p:nvSpPr>
        <p:spPr>
          <a:xfrm>
            <a:off x="594360" y="2432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seasonality and long-term trends</a:t>
            </a:r>
            <a:endParaRPr lang="en-US" sz="1200" dirty="0"/>
          </a:p>
        </p:txBody>
      </p:sp>
      <p:sp>
        <p:nvSpPr>
          <p:cNvPr id="10" name="Chart card 2"/>
          <p:cNvSpPr/>
          <p:nvPr/>
        </p:nvSpPr>
        <p:spPr>
          <a:xfrm>
            <a:off x="3246120" y="1463040"/>
            <a:ext cx="2651760" cy="1517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Regional Analysis icon bg"/>
          <p:cNvSpPr/>
          <p:nvPr/>
        </p:nvSpPr>
        <p:spPr>
          <a:xfrm>
            <a:off x="33832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egional Analysis icon" descr="Regional Analys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714500"/>
            <a:ext cx="228600" cy="228600"/>
          </a:xfrm>
          <a:prstGeom prst="rect">
            <a:avLst/>
          </a:prstGeom>
        </p:spPr>
      </p:pic>
      <p:sp>
        <p:nvSpPr>
          <p:cNvPr id="13" name="Chart name 2"/>
          <p:cNvSpPr txBox="1"/>
          <p:nvPr/>
        </p:nvSpPr>
        <p:spPr>
          <a:xfrm>
            <a:off x="397764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</a:t>
            </a:r>
            <a:endParaRPr lang="en-US" sz="1600" dirty="0"/>
          </a:p>
        </p:txBody>
      </p:sp>
      <p:sp>
        <p:nvSpPr>
          <p:cNvPr id="14" name="Chart type 2"/>
          <p:cNvSpPr txBox="1"/>
          <p:nvPr/>
        </p:nvSpPr>
        <p:spPr>
          <a:xfrm>
            <a:off x="3383280" y="2157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 by state</a:t>
            </a:r>
            <a:endParaRPr lang="en-US" sz="1200" dirty="0"/>
          </a:p>
        </p:txBody>
      </p:sp>
      <p:sp>
        <p:nvSpPr>
          <p:cNvPr id="15" name="Chart objective 2"/>
          <p:cNvSpPr txBox="1"/>
          <p:nvPr/>
        </p:nvSpPr>
        <p:spPr>
          <a:xfrm>
            <a:off x="3383280" y="2432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regional activity and disparities</a:t>
            </a:r>
            <a:endParaRPr lang="en-US" sz="1200" dirty="0"/>
          </a:p>
        </p:txBody>
      </p:sp>
      <p:sp>
        <p:nvSpPr>
          <p:cNvPr id="16" name="Chart card 3"/>
          <p:cNvSpPr/>
          <p:nvPr/>
        </p:nvSpPr>
        <p:spPr>
          <a:xfrm>
            <a:off x="6035040" y="1463040"/>
            <a:ext cx="2651760" cy="1517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Loan Term icon bg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Loan Term icon" descr="Loan Te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14500"/>
            <a:ext cx="228600" cy="228600"/>
          </a:xfrm>
          <a:prstGeom prst="rect">
            <a:avLst/>
          </a:prstGeom>
        </p:spPr>
      </p:pic>
      <p:sp>
        <p:nvSpPr>
          <p:cNvPr id="19" name="Chart name 3"/>
          <p:cNvSpPr txBox="1"/>
          <p:nvPr/>
        </p:nvSpPr>
        <p:spPr>
          <a:xfrm>
            <a:off x="676656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Term</a:t>
            </a:r>
            <a:endParaRPr lang="en-US" sz="1600" dirty="0"/>
          </a:p>
        </p:txBody>
      </p:sp>
      <p:sp>
        <p:nvSpPr>
          <p:cNvPr id="20" name="Chart type 3"/>
          <p:cNvSpPr txBox="1"/>
          <p:nvPr/>
        </p:nvSpPr>
        <p:spPr>
          <a:xfrm>
            <a:off x="6172200" y="2157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36 / 60 months</a:t>
            </a:r>
            <a:endParaRPr lang="en-US" sz="1200" dirty="0"/>
          </a:p>
        </p:txBody>
      </p:sp>
      <p:sp>
        <p:nvSpPr>
          <p:cNvPr id="21" name="Chart objective 3"/>
          <p:cNvSpPr txBox="1"/>
          <p:nvPr/>
        </p:nvSpPr>
        <p:spPr>
          <a:xfrm>
            <a:off x="6172200" y="2432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split across term lengths</a:t>
            </a:r>
            <a:endParaRPr lang="en-US" sz="1200" dirty="0"/>
          </a:p>
        </p:txBody>
      </p:sp>
      <p:sp>
        <p:nvSpPr>
          <p:cNvPr id="22" name="Chart card 4"/>
          <p:cNvSpPr/>
          <p:nvPr/>
        </p:nvSpPr>
        <p:spPr>
          <a:xfrm>
            <a:off x="457200" y="3072384"/>
            <a:ext cx="2651760" cy="1517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Employee Length icon bg"/>
          <p:cNvSpPr/>
          <p:nvPr/>
        </p:nvSpPr>
        <p:spPr>
          <a:xfrm>
            <a:off x="59436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Employee Length icon" descr="Employee Leng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3323844"/>
            <a:ext cx="228600" cy="228600"/>
          </a:xfrm>
          <a:prstGeom prst="rect">
            <a:avLst/>
          </a:prstGeom>
        </p:spPr>
      </p:pic>
      <p:sp>
        <p:nvSpPr>
          <p:cNvPr id="25" name="Chart name 4"/>
          <p:cNvSpPr txBox="1"/>
          <p:nvPr/>
        </p:nvSpPr>
        <p:spPr>
          <a:xfrm>
            <a:off x="1188720" y="3209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Length</a:t>
            </a:r>
            <a:endParaRPr lang="en-US" sz="1600" dirty="0"/>
          </a:p>
        </p:txBody>
      </p:sp>
      <p:sp>
        <p:nvSpPr>
          <p:cNvPr id="26" name="Chart type 4"/>
          <p:cNvSpPr txBox="1"/>
          <p:nvPr/>
        </p:nvSpPr>
        <p:spPr>
          <a:xfrm>
            <a:off x="59436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1 to 10+ years</a:t>
            </a:r>
            <a:endParaRPr lang="en-US" sz="1200" dirty="0"/>
          </a:p>
        </p:txBody>
      </p:sp>
      <p:sp>
        <p:nvSpPr>
          <p:cNvPr id="27" name="Chart objective 4"/>
          <p:cNvSpPr txBox="1"/>
          <p:nvPr/>
        </p:nvSpPr>
        <p:spPr>
          <a:xfrm>
            <a:off x="594360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employment history to applications</a:t>
            </a:r>
            <a:endParaRPr lang="en-US" sz="1200" dirty="0"/>
          </a:p>
        </p:txBody>
      </p:sp>
      <p:sp>
        <p:nvSpPr>
          <p:cNvPr id="28" name="Chart card 5"/>
          <p:cNvSpPr/>
          <p:nvPr/>
        </p:nvSpPr>
        <p:spPr>
          <a:xfrm>
            <a:off x="3246120" y="3072384"/>
            <a:ext cx="2651760" cy="1517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Loan Purpose icon bg"/>
          <p:cNvSpPr/>
          <p:nvPr/>
        </p:nvSpPr>
        <p:spPr>
          <a:xfrm>
            <a:off x="338328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Loan Purpose icon" descr="Loan Purpo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580" y="3323844"/>
            <a:ext cx="228600" cy="228600"/>
          </a:xfrm>
          <a:prstGeom prst="rect">
            <a:avLst/>
          </a:prstGeom>
        </p:spPr>
      </p:pic>
      <p:sp>
        <p:nvSpPr>
          <p:cNvPr id="31" name="Chart name 5"/>
          <p:cNvSpPr txBox="1"/>
          <p:nvPr/>
        </p:nvSpPr>
        <p:spPr>
          <a:xfrm>
            <a:off x="3977640" y="3209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Purpose</a:t>
            </a:r>
            <a:endParaRPr lang="en-US" sz="1600" dirty="0"/>
          </a:p>
        </p:txBody>
      </p:sp>
      <p:sp>
        <p:nvSpPr>
          <p:cNvPr id="32" name="Chart type 5"/>
          <p:cNvSpPr txBox="1"/>
          <p:nvPr/>
        </p:nvSpPr>
        <p:spPr>
          <a:xfrm>
            <a:off x="338328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by purpose</a:t>
            </a:r>
            <a:endParaRPr lang="en-US" sz="1200" dirty="0"/>
          </a:p>
        </p:txBody>
      </p:sp>
      <p:sp>
        <p:nvSpPr>
          <p:cNvPr id="33" name="Chart objective 5"/>
          <p:cNvSpPr txBox="1"/>
          <p:nvPr/>
        </p:nvSpPr>
        <p:spPr>
          <a:xfrm>
            <a:off x="3383280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borrowers seek financing</a:t>
            </a:r>
            <a:endParaRPr lang="en-US" sz="1200" dirty="0"/>
          </a:p>
        </p:txBody>
      </p:sp>
      <p:sp>
        <p:nvSpPr>
          <p:cNvPr id="34" name="Chart card 6"/>
          <p:cNvSpPr/>
          <p:nvPr/>
        </p:nvSpPr>
        <p:spPr>
          <a:xfrm>
            <a:off x="6035040" y="3072384"/>
            <a:ext cx="2651760" cy="151790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Home Ownership icon bg"/>
          <p:cNvSpPr/>
          <p:nvPr/>
        </p:nvSpPr>
        <p:spPr>
          <a:xfrm>
            <a:off x="617220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Home Ownership icon" descr="Home Ownershi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323844"/>
            <a:ext cx="228600" cy="228600"/>
          </a:xfrm>
          <a:prstGeom prst="rect">
            <a:avLst/>
          </a:prstGeom>
        </p:spPr>
      </p:pic>
      <p:sp>
        <p:nvSpPr>
          <p:cNvPr id="37" name="Chart name 6"/>
          <p:cNvSpPr txBox="1"/>
          <p:nvPr/>
        </p:nvSpPr>
        <p:spPr>
          <a:xfrm>
            <a:off x="6766560" y="3209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</a:t>
            </a:r>
            <a:endParaRPr lang="en-US" sz="1600" dirty="0"/>
          </a:p>
        </p:txBody>
      </p:sp>
      <p:sp>
        <p:nvSpPr>
          <p:cNvPr id="38" name="Chart type 6"/>
          <p:cNvSpPr txBox="1"/>
          <p:nvPr/>
        </p:nvSpPr>
        <p:spPr>
          <a:xfrm>
            <a:off x="617220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map: own, rent, mortgage</a:t>
            </a:r>
            <a:endParaRPr lang="en-US" sz="1200" dirty="0"/>
          </a:p>
        </p:txBody>
      </p:sp>
      <p:sp>
        <p:nvSpPr>
          <p:cNvPr id="39" name="Chart objective 6"/>
          <p:cNvSpPr txBox="1"/>
          <p:nvPr/>
        </p:nvSpPr>
        <p:spPr>
          <a:xfrm>
            <a:off x="6172200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view of ownership impact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Details: the one-stop dashboard</a:t>
            </a:r>
            <a:endParaRPr lang="en-US" sz="3200" dirty="0"/>
          </a:p>
        </p:txBody>
      </p:sp>
      <p:sp>
        <p:nvSpPr>
          <p:cNvPr id="3" name="Details intro panel"/>
          <p:cNvSpPr/>
          <p:nvPr/>
        </p:nvSpPr>
        <p:spPr>
          <a:xfrm>
            <a:off x="457200" y="1280160"/>
            <a:ext cx="3474720" cy="320040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4" name="Details icon" descr="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640080" cy="640080"/>
          </a:xfrm>
          <a:prstGeom prst="rect">
            <a:avLst/>
          </a:prstGeom>
        </p:spPr>
      </p:pic>
      <p:sp>
        <p:nvSpPr>
          <p:cNvPr id="5" name="Details heading"/>
          <p:cNvSpPr txBox="1"/>
          <p:nvPr/>
        </p:nvSpPr>
        <p:spPr>
          <a:xfrm>
            <a:off x="777240" y="2377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holistic snapshot of the loan data</a:t>
            </a:r>
            <a:endParaRPr lang="en-US" sz="2200" dirty="0"/>
          </a:p>
        </p:txBody>
      </p:sp>
      <p:sp>
        <p:nvSpPr>
          <p:cNvPr id="6" name="Details text"/>
          <p:cNvSpPr txBox="1"/>
          <p:nvPr/>
        </p:nvSpPr>
        <p:spPr>
          <a:xfrm>
            <a:off x="777240" y="3383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comprehensive, user-friendly interface for accessing vital information efficiently.</a:t>
            </a:r>
            <a:endParaRPr lang="en-US" sz="1400" dirty="0"/>
          </a:p>
        </p:txBody>
      </p:sp>
      <p:sp>
        <p:nvSpPr>
          <p:cNvPr id="7" name="Details row 1"/>
          <p:cNvSpPr/>
          <p:nvPr/>
        </p:nvSpPr>
        <p:spPr>
          <a:xfrm>
            <a:off x="4206240" y="1280160"/>
            <a:ext cx="4480560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Loan portfolio icon bg"/>
          <p:cNvSpPr/>
          <p:nvPr/>
        </p:nvSpPr>
        <p:spPr>
          <a:xfrm>
            <a:off x="443484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Loan portfolio icon" descr="Loan portfo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274320" cy="274320"/>
          </a:xfrm>
          <a:prstGeom prst="rect">
            <a:avLst/>
          </a:prstGeom>
        </p:spPr>
      </p:pic>
      <p:sp>
        <p:nvSpPr>
          <p:cNvPr id="10" name="Details name 1"/>
          <p:cNvSpPr txBox="1"/>
          <p:nvPr/>
        </p:nvSpPr>
        <p:spPr>
          <a:xfrm>
            <a:off x="52120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</a:t>
            </a:r>
            <a:endParaRPr lang="en-US" sz="1600" dirty="0"/>
          </a:p>
        </p:txBody>
      </p:sp>
      <p:sp>
        <p:nvSpPr>
          <p:cNvPr id="11" name="Details desc 1"/>
          <p:cNvSpPr txBox="1"/>
          <p:nvPr/>
        </p:nvSpPr>
        <p:spPr>
          <a:xfrm>
            <a:off x="521208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loan-related metrics and data points</a:t>
            </a:r>
            <a:endParaRPr lang="en-US" sz="1400" dirty="0"/>
          </a:p>
        </p:txBody>
      </p:sp>
      <p:sp>
        <p:nvSpPr>
          <p:cNvPr id="12" name="Details row 2"/>
          <p:cNvSpPr/>
          <p:nvPr/>
        </p:nvSpPr>
        <p:spPr>
          <a:xfrm>
            <a:off x="4206240" y="2377440"/>
            <a:ext cx="4480560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Borrower profiles icon bg"/>
          <p:cNvSpPr/>
          <p:nvPr/>
        </p:nvSpPr>
        <p:spPr>
          <a:xfrm>
            <a:off x="443484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Borrower profiles icon" descr="Borrower profi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43200"/>
            <a:ext cx="274320" cy="274320"/>
          </a:xfrm>
          <a:prstGeom prst="rect">
            <a:avLst/>
          </a:prstGeom>
        </p:spPr>
      </p:pic>
      <p:sp>
        <p:nvSpPr>
          <p:cNvPr id="15" name="Details name 2"/>
          <p:cNvSpPr txBox="1"/>
          <p:nvPr/>
        </p:nvSpPr>
        <p:spPr>
          <a:xfrm>
            <a:off x="52120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profiles</a:t>
            </a:r>
            <a:endParaRPr lang="en-US" sz="1600" dirty="0"/>
          </a:p>
        </p:txBody>
      </p:sp>
      <p:sp>
        <p:nvSpPr>
          <p:cNvPr id="16" name="Details desc 2"/>
          <p:cNvSpPr txBox="1"/>
          <p:nvPr/>
        </p:nvSpPr>
        <p:spPr>
          <a:xfrm>
            <a:off x="521208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borrowing, in detail</a:t>
            </a:r>
            <a:endParaRPr lang="en-US" sz="1400" dirty="0"/>
          </a:p>
        </p:txBody>
      </p:sp>
      <p:sp>
        <p:nvSpPr>
          <p:cNvPr id="17" name="Details row 3"/>
          <p:cNvSpPr/>
          <p:nvPr/>
        </p:nvSpPr>
        <p:spPr>
          <a:xfrm>
            <a:off x="4206240" y="3474720"/>
            <a:ext cx="4480560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Loan performance icon bg"/>
          <p:cNvSpPr/>
          <p:nvPr/>
        </p:nvSpPr>
        <p:spPr>
          <a:xfrm>
            <a:off x="443484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Loan performance icon" descr="Loan performa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840480"/>
            <a:ext cx="274320" cy="274320"/>
          </a:xfrm>
          <a:prstGeom prst="rect">
            <a:avLst/>
          </a:prstGeom>
        </p:spPr>
      </p:pic>
      <p:sp>
        <p:nvSpPr>
          <p:cNvPr id="20" name="Details name 3"/>
          <p:cNvSpPr txBox="1"/>
          <p:nvPr/>
        </p:nvSpPr>
        <p:spPr>
          <a:xfrm>
            <a:off x="521208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performance</a:t>
            </a:r>
            <a:endParaRPr lang="en-US" sz="1600" dirty="0"/>
          </a:p>
        </p:txBody>
      </p:sp>
      <p:sp>
        <p:nvSpPr>
          <p:cNvPr id="21" name="Details desc 3"/>
          <p:cNvSpPr txBox="1"/>
          <p:nvPr/>
        </p:nvSpPr>
        <p:spPr>
          <a:xfrm>
            <a:off x="521208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loans are performing over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decisions for a healthier loan portfolio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performance, track portfolio health, and shape lending strategy with confidence.</a:t>
            </a:r>
            <a:endParaRPr lang="en-US" sz="1800" dirty="0"/>
          </a:p>
        </p:txBody>
      </p:sp>
      <p:sp>
        <p:nvSpPr>
          <p:cNvPr id="4" name="Closing circle"/>
          <p:cNvSpPr/>
          <p:nvPr/>
        </p:nvSpPr>
        <p:spPr>
          <a:xfrm>
            <a:off x="7406640" y="201168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Closing icon" descr="Trend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3317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nk Loan Report">
  <a:themeElements>
    <a:clrScheme name="Bank Loan Report">
      <a:dk1>
        <a:srgbClr val="1A2B30"/>
      </a:dk1>
      <a:lt1>
        <a:srgbClr val="FFFFFF"/>
      </a:lt1>
      <a:dk2>
        <a:srgbClr val="0B3C49"/>
      </a:dk2>
      <a:lt2>
        <a:srgbClr val="EAF2F2"/>
      </a:lt2>
      <a:accent1>
        <a:srgbClr val="1F7A8C"/>
      </a:accent1>
      <a:accent2>
        <a:srgbClr val="F2B134"/>
      </a:accent2>
      <a:accent3>
        <a:srgbClr val="2E7D5B"/>
      </a:accent3>
      <a:accent4>
        <a:srgbClr val="C0392B"/>
      </a:accent4>
      <a:accent5>
        <a:srgbClr val="5B8E9B"/>
      </a:accent5>
      <a:accent6>
        <a:srgbClr val="B8D4DA"/>
      </a:accent6>
      <a:hlink>
        <a:srgbClr val="1F7A8C"/>
      </a:hlink>
      <a:folHlink>
        <a:srgbClr val="5B8E9B"/>
      </a:folHlink>
    </a:clrScheme>
    <a:fontScheme name="Bank Loan Repo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Analysis - Problem Statement</dc:title>
  <dc:subject>PptxGenJS Presentation</dc:subject>
  <dc:creator>Bank Loan Report</dc:creator>
  <cp:lastModifiedBy>Bank Loan Report</cp:lastModifiedBy>
  <cp:revision>1</cp:revision>
  <dcterms:created xsi:type="dcterms:W3CDTF">2026-10-18T02:48:28Z</dcterms:created>
  <dcterms:modified xsi:type="dcterms:W3CDTF">2026-10-18T02:48:28Z</dcterms:modified>
</cp:coreProperties>
</file>